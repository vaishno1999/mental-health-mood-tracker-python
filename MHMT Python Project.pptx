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</p:sldMasterIdLst>
  <p:notesMasterIdLst>
    <p:notesMasterId r:id="rId12"/>
  </p:notesMasterIdLst>
  <p:sldIdLst>
    <p:sldId id="256" r:id="rId2"/>
    <p:sldId id="257" r:id="rId3"/>
    <p:sldId id="260" r:id="rId4"/>
    <p:sldId id="261" r:id="rId5"/>
    <p:sldId id="263" r:id="rId6"/>
    <p:sldId id="262" r:id="rId7"/>
    <p:sldId id="264" r:id="rId8"/>
    <p:sldId id="265" r:id="rId9"/>
    <p:sldId id="266" r:id="rId10"/>
    <p:sldId id="267" r:id="rId11"/>
  </p:sldIdLst>
  <p:sldSz cx="9144000" cy="5143500" type="screen16x9"/>
  <p:notesSz cx="6858000" cy="9144000"/>
  <p:embeddedFontLst>
    <p:embeddedFont>
      <p:font typeface="Crimson Text" panose="020B0604020202020204" charset="0"/>
      <p:regular r:id="rId13"/>
      <p:bold r:id="rId14"/>
      <p:italic r:id="rId15"/>
      <p:boldItalic r:id="rId16"/>
    </p:embeddedFont>
    <p:embeddedFont>
      <p:font typeface="Lato" panose="020F0502020204030203" pitchFamily="34" charset="0"/>
      <p:regular r:id="rId17"/>
      <p:bold r:id="rId18"/>
      <p:italic r:id="rId19"/>
      <p:boldItalic r:id="rId20"/>
    </p:embeddedFont>
    <p:embeddedFont>
      <p:font typeface="Montserrat" panose="00000500000000000000" pitchFamily="2" charset="0"/>
      <p:regular r:id="rId21"/>
      <p:bold r:id="rId22"/>
      <p:italic r:id="rId23"/>
      <p:boldItalic r:id="rId24"/>
    </p:embeddedFont>
    <p:embeddedFont>
      <p:font typeface="Vidaloka" panose="020B0604020202020204" charset="0"/>
      <p:regular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8C7927-E030-426F-AFEE-940EA7CBB93B}" v="1" dt="2026-09-29T09:57:20.113"/>
  </p1510:revLst>
</p1510:revInfo>
</file>

<file path=ppt/tableStyles.xml><?xml version="1.0" encoding="utf-8"?>
<a:tblStyleLst xmlns:a="http://schemas.openxmlformats.org/drawingml/2006/main" def="{63217BCA-EB74-4884-B162-7DEE956D92B3}">
  <a:tblStyle styleId="{63217BCA-EB74-4884-B162-7DEE956D92B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shnavi ojha" userId="53e93c2a07d260ee" providerId="LiveId" clId="{22FFC307-07D9-4464-A067-63EB1CAD6D17}"/>
    <pc:docChg chg="modSld">
      <pc:chgData name="vaishnavi ojha" userId="53e93c2a07d260ee" providerId="LiveId" clId="{22FFC307-07D9-4464-A067-63EB1CAD6D17}" dt="2026-09-29T10:06:36.493" v="4" actId="20577"/>
      <pc:docMkLst>
        <pc:docMk/>
      </pc:docMkLst>
      <pc:sldChg chg="addSp delSp modSp mod">
        <pc:chgData name="vaishnavi ojha" userId="53e93c2a07d260ee" providerId="LiveId" clId="{22FFC307-07D9-4464-A067-63EB1CAD6D17}" dt="2026-09-29T09:57:22.880" v="2"/>
        <pc:sldMkLst>
          <pc:docMk/>
          <pc:sldMk cId="0" sldId="260"/>
        </pc:sldMkLst>
        <pc:spChg chg="add del mod">
          <ac:chgData name="vaishnavi ojha" userId="53e93c2a07d260ee" providerId="LiveId" clId="{22FFC307-07D9-4464-A067-63EB1CAD6D17}" dt="2026-09-29T09:57:22.880" v="2"/>
          <ac:spMkLst>
            <pc:docMk/>
            <pc:sldMk cId="0" sldId="260"/>
            <ac:spMk id="2" creationId="{00259B4E-D0C1-F1F7-6F16-D58E4A2EB0D4}"/>
          </ac:spMkLst>
        </pc:spChg>
      </pc:sldChg>
      <pc:sldChg chg="modSp mod">
        <pc:chgData name="vaishnavi ojha" userId="53e93c2a07d260ee" providerId="LiveId" clId="{22FFC307-07D9-4464-A067-63EB1CAD6D17}" dt="2026-09-29T10:06:36.493" v="4" actId="20577"/>
        <pc:sldMkLst>
          <pc:docMk/>
          <pc:sldMk cId="2029919464" sldId="264"/>
        </pc:sldMkLst>
        <pc:spChg chg="mod">
          <ac:chgData name="vaishnavi ojha" userId="53e93c2a07d260ee" providerId="LiveId" clId="{22FFC307-07D9-4464-A067-63EB1CAD6D17}" dt="2026-09-29T10:06:36.493" v="4" actId="20577"/>
          <ac:spMkLst>
            <pc:docMk/>
            <pc:sldMk cId="2029919464" sldId="264"/>
            <ac:spMk id="2" creationId="{3E9DD2D9-2C84-D92E-7999-E501BB162BE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c7554a049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cc7554a049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cd8a80d6bc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cd8a80d6bc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105aad17dc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105aad17dc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9pPr>
          </a:lstStyle>
          <a:p>
            <a:endParaRPr/>
          </a:p>
        </p:txBody>
      </p:sp>
      <p:cxnSp>
        <p:nvCxnSpPr>
          <p:cNvPr id="26" name="Google Shape;26;p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Google Shape;27;p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Google Shape;28;p4"/>
          <p:cNvCxnSpPr/>
          <p:nvPr/>
        </p:nvCxnSpPr>
        <p:spPr>
          <a:xfrm>
            <a:off x="6884900" y="-113600"/>
            <a:ext cx="2565600" cy="1306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57" name="Google Shape;57;p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2410500" y="280825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subTitle" idx="1"/>
          </p:nvPr>
        </p:nvSpPr>
        <p:spPr>
          <a:xfrm>
            <a:off x="1842900" y="1661963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16" name="Google Shape;116;p1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" name="Google Shape;117;p1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CUSTOM_1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699900" y="282126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endParaRPr/>
          </a:p>
        </p:txBody>
      </p:sp>
      <p:sp>
        <p:nvSpPr>
          <p:cNvPr id="120" name="Google Shape;120;p16"/>
          <p:cNvSpPr txBox="1">
            <a:spLocks noGrp="1"/>
          </p:cNvSpPr>
          <p:nvPr>
            <p:ph type="subTitle" idx="1"/>
          </p:nvPr>
        </p:nvSpPr>
        <p:spPr>
          <a:xfrm>
            <a:off x="699900" y="1675902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1" name="Google Shape;121;p1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" name="Google Shape;122;p1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" name="Google Shape;123;p16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" name="Google Shape;124;p16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6" name="Google Shape;456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7" name="Google Shape;457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9" name="Google Shape;459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1" name="Google Shape;461;p52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2" name="Google Shape;462;p52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4" name="Google Shape;464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8" name="Google Shape;468;p5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9" name="Google Shape;469;p5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0" name="Google Shape;470;p5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1" name="Google Shape;471;p5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2" name="Google Shape;472;p54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3" name="Google Shape;473;p54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8" r:id="rId4"/>
    <p:sldLayoutId id="2147483661" r:id="rId5"/>
    <p:sldLayoutId id="2147483662" r:id="rId6"/>
    <p:sldLayoutId id="2147483697" r:id="rId7"/>
    <p:sldLayoutId id="2147483698" r:id="rId8"/>
    <p:sldLayoutId id="2147483699" r:id="rId9"/>
    <p:sldLayoutId id="214748370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0"/>
          <p:cNvSpPr txBox="1">
            <a:spLocks noGrp="1"/>
          </p:cNvSpPr>
          <p:nvPr>
            <p:ph type="ctrTitle"/>
          </p:nvPr>
        </p:nvSpPr>
        <p:spPr>
          <a:xfrm>
            <a:off x="1039975" y="758284"/>
            <a:ext cx="7064100" cy="19105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Mental Health Mood Tracker</a:t>
            </a:r>
            <a:endParaRPr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9" name="Google Shape;489;p60"/>
          <p:cNvSpPr txBox="1">
            <a:spLocks noGrp="1"/>
          </p:cNvSpPr>
          <p:nvPr>
            <p:ph type="subTitle" idx="1"/>
          </p:nvPr>
        </p:nvSpPr>
        <p:spPr>
          <a:xfrm>
            <a:off x="1434010" y="2676296"/>
            <a:ext cx="7064100" cy="16355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: Vaishnavi Amit Ojha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Trainer Name : Khushi Barole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212932-FEF9-6FE5-FF54-8FBDF1D8E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0" y="2802674"/>
            <a:ext cx="3585614" cy="20477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1"/>
          <p:cNvSpPr txBox="1">
            <a:spLocks noGrp="1"/>
          </p:cNvSpPr>
          <p:nvPr>
            <p:ph type="body" idx="1"/>
          </p:nvPr>
        </p:nvSpPr>
        <p:spPr>
          <a:xfrm>
            <a:off x="542265" y="618720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  <a:defRPr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</a:p>
          <a:p>
            <a:pPr>
              <a:defRPr/>
            </a:pP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>
              <a:buFont typeface="Wingdings" panose="05000000000000000000" pitchFamily="2" charset="2"/>
              <a:buChar char="Ø"/>
              <a:defRPr/>
            </a:pPr>
            <a:r>
              <a:rPr lang="en-IN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</a:t>
            </a:r>
            <a:endParaRPr lang="en-US" sz="18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457200">
              <a:buFont typeface="Wingdings" panose="05000000000000000000" pitchFamily="2" charset="2"/>
              <a:buChar char="Ø"/>
              <a:defRPr/>
            </a:pPr>
            <a:r>
              <a:rPr lang="en-IN" altLang="en-US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Problem Statement</a:t>
            </a:r>
          </a:p>
          <a:p>
            <a:pPr indent="-457200">
              <a:buFont typeface="Wingdings" panose="05000000000000000000" pitchFamily="2" charset="2"/>
              <a:buChar char="Ø"/>
              <a:defRPr/>
            </a:pPr>
            <a:r>
              <a:rPr lang="en-IN" altLang="en-US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Python Code</a:t>
            </a:r>
          </a:p>
          <a:p>
            <a:pPr indent="-457200">
              <a:buFont typeface="Wingdings" panose="05000000000000000000" pitchFamily="2" charset="2"/>
              <a:buChar char="Ø"/>
              <a:defRPr/>
            </a:pPr>
            <a:r>
              <a:rPr lang="en-IN" altLang="en-US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Implementation</a:t>
            </a:r>
          </a:p>
          <a:p>
            <a:pPr indent="-457200">
              <a:buFont typeface="Wingdings" panose="05000000000000000000" pitchFamily="2" charset="2"/>
              <a:buChar char="Ø"/>
              <a:defRPr/>
            </a:pPr>
            <a:r>
              <a:rPr lang="en-IN" altLang="en-US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Flow chart</a:t>
            </a:r>
            <a:endParaRPr lang="en-IN" sz="18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457200">
              <a:buFont typeface="Wingdings" panose="05000000000000000000" pitchFamily="2" charset="2"/>
              <a:buChar char="Ø"/>
              <a:defRPr/>
            </a:pPr>
            <a:r>
              <a:rPr lang="en-US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Results &amp; </a:t>
            </a:r>
            <a:r>
              <a:rPr lang="en-IN" altLang="en-US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</a:t>
            </a:r>
            <a:endParaRPr lang="en-IN" sz="18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457200">
              <a:buFont typeface="Wingdings" panose="05000000000000000000" pitchFamily="2" charset="2"/>
              <a:buChar char="Ø"/>
              <a:defRPr/>
            </a:pPr>
            <a:r>
              <a:rPr lang="en-US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606B25-0FCA-B630-4C8D-B41D562FF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5063" y="4041232"/>
            <a:ext cx="1106991" cy="73799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64"/>
          <p:cNvSpPr txBox="1">
            <a:spLocks noGrp="1"/>
          </p:cNvSpPr>
          <p:nvPr>
            <p:ph type="title"/>
          </p:nvPr>
        </p:nvSpPr>
        <p:spPr>
          <a:xfrm>
            <a:off x="-325265" y="414458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—</a:t>
            </a:r>
            <a:r>
              <a:rPr lang="en-IN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</a:t>
            </a:r>
            <a:b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dirty="0"/>
          </a:p>
        </p:txBody>
      </p:sp>
      <p:sp>
        <p:nvSpPr>
          <p:cNvPr id="541" name="Google Shape;541;p64"/>
          <p:cNvSpPr txBox="1">
            <a:spLocks noGrp="1"/>
          </p:cNvSpPr>
          <p:nvPr>
            <p:ph type="subTitle" idx="1"/>
          </p:nvPr>
        </p:nvSpPr>
        <p:spPr>
          <a:xfrm>
            <a:off x="1508362" y="1201046"/>
            <a:ext cx="6632027" cy="35279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Mental health is a critical part of overall well-being.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Self-awareness of mood can help improve mental resilience.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project is a simple Python-based Mood Tracker.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helps users log emotions and receive motivational advice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Weekly summaries provide insights into emotional patterns.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5"/>
          <p:cNvSpPr txBox="1">
            <a:spLocks noGrp="1"/>
          </p:cNvSpPr>
          <p:nvPr>
            <p:ph type="title"/>
          </p:nvPr>
        </p:nvSpPr>
        <p:spPr>
          <a:xfrm>
            <a:off x="699900" y="702531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—</a:t>
            </a:r>
            <a:r>
              <a:rPr lang="en-IN" alt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Problem Statement</a:t>
            </a:r>
            <a:br>
              <a:rPr lang="en-IN" alt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dirty="0"/>
          </a:p>
        </p:txBody>
      </p:sp>
      <p:sp>
        <p:nvSpPr>
          <p:cNvPr id="547" name="Google Shape;547;p65"/>
          <p:cNvSpPr txBox="1">
            <a:spLocks noGrp="1"/>
          </p:cNvSpPr>
          <p:nvPr>
            <p:ph type="subTitle" idx="1"/>
          </p:nvPr>
        </p:nvSpPr>
        <p:spPr>
          <a:xfrm>
            <a:off x="1495353" y="1363232"/>
            <a:ext cx="6756549" cy="30777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Individuals struggle to consistently track emotional health.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Lack of awareness hinders mental wellness.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 need exists for a user-friendly solution to:</a:t>
            </a:r>
          </a:p>
          <a:p>
            <a:pPr lvl="6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Track moods daily</a:t>
            </a:r>
          </a:p>
          <a:p>
            <a:pPr lvl="6"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Provide motivational feedback</a:t>
            </a:r>
          </a:p>
          <a:p>
            <a:pPr lvl="6"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Reflect on weekly mood trends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70886-F752-9BCC-0A55-A478F0FA0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900" y="353126"/>
            <a:ext cx="4323000" cy="497700"/>
          </a:xfrm>
        </p:spPr>
        <p:txBody>
          <a:bodyPr/>
          <a:lstStyle/>
          <a:p>
            <a:r>
              <a:rPr lang="en-US" dirty="0"/>
              <a:t>-</a:t>
            </a:r>
            <a:r>
              <a:rPr lang="en-IN" alt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Python Code</a:t>
            </a:r>
            <a:br>
              <a:rPr lang="en-IN" alt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6E9641-1F4E-0EA6-88E6-BAF71D373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288" y="1140757"/>
            <a:ext cx="5947317" cy="3649617"/>
          </a:xfrm>
          <a:prstGeom prst="rect">
            <a:avLst/>
          </a:prstGeom>
        </p:spPr>
      </p:pic>
      <p:pic>
        <p:nvPicPr>
          <p:cNvPr id="7" name="Graphic 6" descr="Brain in head with solid fill">
            <a:extLst>
              <a:ext uri="{FF2B5EF4-FFF2-40B4-BE49-F238E27FC236}">
                <a16:creationId xmlns:a16="http://schemas.microsoft.com/office/drawing/2014/main" id="{9A7651B8-D907-41CF-B15B-1E9A9EBA7D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26512" y="452907"/>
            <a:ext cx="1148575" cy="10857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61F564-E4DB-D6C5-C871-A002C669C95B}"/>
              </a:ext>
            </a:extLst>
          </p:cNvPr>
          <p:cNvSpPr txBox="1"/>
          <p:nvPr/>
        </p:nvSpPr>
        <p:spPr>
          <a:xfrm>
            <a:off x="6214946" y="1970049"/>
            <a:ext cx="2892194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Features Used</a:t>
            </a:r>
            <a:endParaRPr lang="en-US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input(), print()</a:t>
            </a:r>
          </a:p>
          <a:p>
            <a:pPr marL="285750" lvl="3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and for loops</a:t>
            </a:r>
          </a:p>
          <a:p>
            <a:pPr marL="285750" lvl="3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-else conditions</a:t>
            </a:r>
          </a:p>
          <a:p>
            <a:pPr marL="285750" lvl="3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Dictionary, list, Counter</a:t>
            </a:r>
          </a:p>
          <a:p>
            <a:pPr marL="285750" lvl="3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methods: lower(), strip(), capitalize()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8917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F9D7D-6605-62BA-8251-777A680A2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676" y="643058"/>
            <a:ext cx="4323000" cy="497700"/>
          </a:xfrm>
        </p:spPr>
        <p:txBody>
          <a:bodyPr/>
          <a:lstStyle/>
          <a:p>
            <a:r>
              <a:rPr lang="en-IN" alt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-Implementation</a:t>
            </a:r>
            <a:br>
              <a:rPr lang="en-IN" alt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62FE96-CE7D-D50F-B6D4-5C1692A420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6671" y="1412488"/>
            <a:ext cx="6808588" cy="318181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script developed using:</a:t>
            </a:r>
          </a:p>
          <a:p>
            <a:pPr lvl="2" algn="l"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Input/Output for mood entry</a:t>
            </a:r>
          </a:p>
          <a:p>
            <a:pPr lvl="2" algn="l"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loop for daily tracking</a:t>
            </a:r>
          </a:p>
          <a:p>
            <a:pPr lvl="2" algn="l"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Dictionary for motivational quotes</a:t>
            </a:r>
          </a:p>
          <a:p>
            <a:pPr lvl="2" algn="l"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If-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-else for mood analysis</a:t>
            </a:r>
          </a:p>
          <a:p>
            <a:pPr lvl="2" algn="l"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loop for weekly summary</a:t>
            </a:r>
          </a:p>
          <a:p>
            <a:pPr lvl="2" algn="l"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methods for formatting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8091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DD2D9-2C84-D92E-7999-E501BB162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900" y="709965"/>
            <a:ext cx="4323000" cy="497700"/>
          </a:xfrm>
        </p:spPr>
        <p:txBody>
          <a:bodyPr/>
          <a:lstStyle/>
          <a:p>
            <a:r>
              <a:rPr lang="en-US" dirty="0"/>
              <a:t>-</a:t>
            </a:r>
            <a:r>
              <a:rPr lang="en-IN" alt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Flow chart</a:t>
            </a:r>
            <a:br>
              <a:rPr lang="en-IN" sz="3200" b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796D7E-3974-4DEE-C292-655846953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6803" y="348939"/>
            <a:ext cx="4328931" cy="4445621"/>
          </a:xfrm>
          <a:prstGeom prst="rect">
            <a:avLst/>
          </a:prstGeom>
        </p:spPr>
      </p:pic>
      <p:pic>
        <p:nvPicPr>
          <p:cNvPr id="8" name="Graphic 7" descr="Arrow: Rotate left with solid fill">
            <a:extLst>
              <a:ext uri="{FF2B5EF4-FFF2-40B4-BE49-F238E27FC236}">
                <a16:creationId xmlns:a16="http://schemas.microsoft.com/office/drawing/2014/main" id="{D69B6505-06B7-066C-9A0C-3A4D9775CE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5621788">
            <a:off x="1332146" y="1502549"/>
            <a:ext cx="1867206" cy="1867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919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31DF7-963E-F193-1370-C01968D70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505" y="724833"/>
            <a:ext cx="4323000" cy="497700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-Results &amp; </a:t>
            </a:r>
            <a:r>
              <a:rPr lang="en-IN" alt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</a:t>
            </a:r>
            <a:br>
              <a:rPr lang="en-IN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EBA789-44AA-08A2-E7B3-BC0CBAE80B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7129" y="1344149"/>
            <a:ext cx="6719377" cy="3473178"/>
          </a:xfrm>
        </p:spPr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Users input their mood each day.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Motivational quote is displayed for known moods.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Weekly summary includes: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All logged moods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Most frequent mood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Weekly motivational advice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1: Happy | Day 2: Sad | Day 3: Anxious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Frequent: Happy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Quote: Keep smiling! Your joy is contagious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1269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A6EF0-C6EF-19D9-946A-6ACE2EA0B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900" y="754570"/>
            <a:ext cx="4323000" cy="497700"/>
          </a:xfrm>
        </p:spPr>
        <p:txBody>
          <a:bodyPr/>
          <a:lstStyle/>
          <a:p>
            <a:r>
              <a:rPr lang="en-US" dirty="0"/>
              <a:t>-</a:t>
            </a: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</a:t>
            </a:r>
            <a:b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753B61-DA7C-CBFF-E402-8189CCDD70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8973" y="1574550"/>
            <a:ext cx="6176686" cy="3183304"/>
          </a:xfrm>
        </p:spPr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Encourages daily emotional self-check-ins.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Promotes positive thinking through quotes.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Simple and extendable for future enhancements.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Supports mental well-being and mindfulness.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8989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0867F6-77F2-E39A-42D4-8DB421EB759F}"/>
              </a:ext>
            </a:extLst>
          </p:cNvPr>
          <p:cNvSpPr/>
          <p:nvPr/>
        </p:nvSpPr>
        <p:spPr>
          <a:xfrm>
            <a:off x="0" y="1828800"/>
            <a:ext cx="9144000" cy="118202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b="1" i="1" dirty="0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Thank You…..!</a:t>
            </a:r>
            <a:endParaRPr lang="en-IN" altLang="en-US" sz="4000" b="1" i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FF9677-7082-3006-8109-BADD56E4E26E}"/>
              </a:ext>
            </a:extLst>
          </p:cNvPr>
          <p:cNvSpPr txBox="1"/>
          <p:nvPr/>
        </p:nvSpPr>
        <p:spPr>
          <a:xfrm>
            <a:off x="5203902" y="4534830"/>
            <a:ext cx="32264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/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Start your emotional wellness journey !</a:t>
            </a:r>
          </a:p>
        </p:txBody>
      </p:sp>
    </p:spTree>
    <p:extLst>
      <p:ext uri="{BB962C8B-B14F-4D97-AF65-F5344CB8AC3E}">
        <p14:creationId xmlns:p14="http://schemas.microsoft.com/office/powerpoint/2010/main" val="939008402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314</Words>
  <Application>Microsoft Office PowerPoint</Application>
  <PresentationFormat>On-screen Show (16:9)</PresentationFormat>
  <Paragraphs>71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Wingdings</vt:lpstr>
      <vt:lpstr>Lato</vt:lpstr>
      <vt:lpstr>Vidaloka</vt:lpstr>
      <vt:lpstr>Arial</vt:lpstr>
      <vt:lpstr>Crimson Text</vt:lpstr>
      <vt:lpstr>Montserrat</vt:lpstr>
      <vt:lpstr>Times New Roman</vt:lpstr>
      <vt:lpstr>Minimalist Business Slides XL by Slidesgo</vt:lpstr>
      <vt:lpstr>Mental Health Mood Tracker</vt:lpstr>
      <vt:lpstr>PowerPoint Presentation</vt:lpstr>
      <vt:lpstr>—Introduction </vt:lpstr>
      <vt:lpstr>—Problem Statement </vt:lpstr>
      <vt:lpstr>-Python Code </vt:lpstr>
      <vt:lpstr>-Implementation </vt:lpstr>
      <vt:lpstr>-Flow chart </vt:lpstr>
      <vt:lpstr>-Results &amp; Output </vt:lpstr>
      <vt:lpstr>-Conclusion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TrishaVaishno</dc:creator>
  <cp:lastModifiedBy>vaishnavi ojha</cp:lastModifiedBy>
  <cp:revision>1</cp:revision>
  <dcterms:modified xsi:type="dcterms:W3CDTF">2026-09-29T10:06:44Z</dcterms:modified>
</cp:coreProperties>
</file>